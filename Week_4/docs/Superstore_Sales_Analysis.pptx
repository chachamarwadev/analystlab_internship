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Four Years of Retail Data into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Business Insights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Internship Project  |  Chacha Marwa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— Superstore Dataset Final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Analyzed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480560"/>
          </a:xfrm>
          <a:prstGeom prst="rect">
            <a:avLst>
              <a:gd name="adj" fmla="val 1633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212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Source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Kaggle — Superstore Dataset Final, a US retail sales dataset (2014–2017) covering orders, customers, products, and profitability.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Grain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One row per order line item, with Sales, Profit, Discount, Quantity, Category, Sub-Category, Segment, Region/State, and Order Date.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Scope of this analysis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~5,009 orders across 4 years, built into a multi-page Power BI dashboard: Overview, Geography, Product Performance, Discount Impact, and Customer 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600200"/>
            <a:ext cx="2514600" cy="2148840"/>
          </a:xfrm>
          <a:prstGeom prst="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9202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2.30M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7512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18320" y="1600200"/>
            <a:ext cx="2514600" cy="2148840"/>
          </a:xfrm>
          <a:prstGeom prst="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0" y="19202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41832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977640"/>
            <a:ext cx="2514600" cy="2148840"/>
          </a:xfrm>
          <a:prstGeom prst="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4297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286.4K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75120" y="5120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18320" y="3977640"/>
            <a:ext cx="2514600" cy="2148840"/>
          </a:xfrm>
          <a:prstGeom prst="rect">
            <a:avLst>
              <a:gd name="adj" fmla="val 3404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4297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18320" y="5120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I Tracked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dashboard page was built to answer a specific business question using these metrics.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Total Orders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scale and order volume across the 4-year period.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0574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&amp; Profit Margin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2331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growth in sales is translating into healthy profitability.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Region/State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is strongest and where it's underperforming geographically.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52044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3749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Category/Sub-Category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4023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lines drive revenue vs which ones actually earn money.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349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 relationship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57150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discounting is helping close sales or quietly eroding margin.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5212080"/>
            <a:ext cx="5257800" cy="1417320"/>
          </a:xfrm>
          <a:prstGeom prst="rect">
            <a:avLst>
              <a:gd name="adj" fmla="val 4516"/>
            </a:avLst>
          </a:prstGeom>
          <a:solidFill>
            <a:srgbClr val="EAF3F8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5080" y="5440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349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&amp; Segment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57150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highest-value customers and segments are.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— How Is the Business Doing?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orders, profit and margin at a glance, with sales trend and category split.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1852" y="1636776"/>
            <a:ext cx="9985248" cy="5657773"/>
          </a:xfrm>
          <a:prstGeom prst="rect">
            <a:avLst>
              <a:gd name="adj" fmla="val 808"/>
            </a:avLst>
          </a:prstGeom>
          <a:solidFill>
            <a:srgbClr val="0E2038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deck/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5548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422565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climbed every year from 2014 to 2017, nearly doubling — Technology is the top revenue category.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— Where Is Profit Coming From?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profit comparison plus state-level sales, with click-to-filter region buttons.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1852" y="1636776"/>
            <a:ext cx="9985248" cy="5657773"/>
          </a:xfrm>
          <a:prstGeom prst="rect">
            <a:avLst>
              <a:gd name="adj" fmla="val 808"/>
            </a:avLst>
          </a:prstGeom>
          <a:solidFill>
            <a:srgbClr val="0E2038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deck/Geographic_inform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5548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422565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regions generate the bulk of profit; California and New York dominate state-level sales.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— What's Selling, What's 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sub-category alongside a searchable profit table and full product list.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1852" y="1636776"/>
            <a:ext cx="9985248" cy="5657773"/>
          </a:xfrm>
          <a:prstGeom prst="rect">
            <a:avLst>
              <a:gd name="adj" fmla="val 808"/>
            </a:avLst>
          </a:prstGeom>
          <a:solidFill>
            <a:srgbClr val="0E2038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deck/Product_perform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5548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422565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and Chairs lead sales, but Tables and Bookcases show negative total profit despite selling well.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Impact — Is Discounting Hurting Margin?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 scatter plot next to average discount rate by category.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1852" y="1636776"/>
            <a:ext cx="9985248" cy="5657773"/>
          </a:xfrm>
          <a:prstGeom prst="rect">
            <a:avLst>
              <a:gd name="adj" fmla="val 808"/>
            </a:avLst>
          </a:prstGeom>
          <a:solidFill>
            <a:srgbClr val="0E2038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deck/Discount_Imp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5548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422565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drops toward zero (and negative) as discount rises — Furniture carries the highest average discount.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View — Segment &amp; Customer-Level Detail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by segment, with a searchable, sortable customer sales 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1852" y="1636776"/>
            <a:ext cx="9985248" cy="5657773"/>
          </a:xfrm>
          <a:prstGeom prst="rect">
            <a:avLst>
              <a:gd name="adj" fmla="val 808"/>
            </a:avLst>
          </a:prstGeom>
          <a:solidFill>
            <a:srgbClr val="0E2038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6" name="Image 0" descr="/home/claude/deck/Customer_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691640"/>
            <a:ext cx="9875520" cy="5548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7422565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drives just over half of all sales, ahead of Corporate and Home Office.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508760"/>
          </a:xfrm>
          <a:prstGeom prst="rect">
            <a:avLst>
              <a:gd name="adj" fmla="val 3636"/>
            </a:avLst>
          </a:prstGeom>
          <a:solidFill>
            <a:srgbClr val="F5F9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783080" y="1783080"/>
            <a:ext cx="0" cy="1143000"/>
          </a:xfrm>
          <a:prstGeom prst="line">
            <a:avLst/>
          </a:prstGeom>
          <a:noFill/>
          <a:ln w="19050">
            <a:solidFill>
              <a:srgbClr val="D3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7373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~20% erase profit entirely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10312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discount-vs-profit scatter shows profit clustering near zero or turning negative once discount rises past roughly 0.2, and Furniture — the category with the highest average discount (~0.17) — is also the most exposed to this effect.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508760"/>
          </a:xfrm>
          <a:prstGeom prst="rect">
            <a:avLst>
              <a:gd name="adj" fmla="val 3636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783080" y="3429000"/>
            <a:ext cx="0" cy="1143000"/>
          </a:xfrm>
          <a:prstGeom prst="line">
            <a:avLst/>
          </a:prstGeom>
          <a:noFill/>
          <a:ln w="19050">
            <a:solidFill>
              <a:srgbClr val="D3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3832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sub-categories sell well but lose money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374904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(-$17.7K profit) and Bookcases (-$3.5K profit) both post meaningful sales volume yet finish in the red, while Copiers and Phones deliver strong profit relative to their sales — a profitability gap hidden by revenue alone.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64240" cy="1508760"/>
          </a:xfrm>
          <a:prstGeom prst="rect">
            <a:avLst>
              <a:gd name="adj" fmla="val 3636"/>
            </a:avLst>
          </a:prstGeom>
          <a:solidFill>
            <a:srgbClr val="F5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02920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1783080" y="5074920"/>
            <a:ext cx="0" cy="1143000"/>
          </a:xfrm>
          <a:prstGeom prst="line">
            <a:avLst/>
          </a:prstGeom>
          <a:noFill/>
          <a:ln w="19050">
            <a:solidFill>
              <a:srgbClr val="D3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50292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geography are both concentrated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53949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nearly doubled from 2014 to 2017, but that growth — and profit overall — is concentrated in the West and East regions and in just two states, California and New York, which together dwarf the rest of the country.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SHOULD CHANGE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828800"/>
          </a:xfrm>
          <a:prstGeom prst="rect">
            <a:avLst>
              <a:gd name="adj" fmla="val 4000"/>
            </a:avLst>
          </a:prstGeom>
          <a:solidFill>
            <a:srgbClr val="1232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on Furniture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discount ceiling (e.g. 15%) on Tables and Bookcases specifically, since these are the sub-categories most often sold at a loss.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1828800"/>
          </a:xfrm>
          <a:prstGeom prst="rect">
            <a:avLst>
              <a:gd name="adj" fmla="val 4000"/>
            </a:avLst>
          </a:prstGeom>
          <a:solidFill>
            <a:srgbClr val="1232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or re-negotiate Tables &amp; Bookcases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supplier cost and list price for these two sub-categories before running any further promotions on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257800" cy="1828800"/>
          </a:xfrm>
          <a:prstGeom prst="rect">
            <a:avLst>
              <a:gd name="adj" fmla="val 4000"/>
            </a:avLst>
          </a:prstGeom>
          <a:solidFill>
            <a:srgbClr val="1232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the West and East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marketing spend and inventory in the highest-profit regions and top states rather than spreading budget evenly nationwide.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257800" cy="1828800"/>
          </a:xfrm>
          <a:prstGeom prst="rect">
            <a:avLst>
              <a:gd name="adj" fmla="val 4000"/>
            </a:avLst>
          </a:prstGeom>
          <a:solidFill>
            <a:srgbClr val="1232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4663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high-margin lines from blanket discounts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50292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Copiers and Phones from storewide discount campaigns, since they already convert sales into profit efficiently.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&amp; Struggled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multi-page Power BI dashboard around specific business questions rather than just charting everything available.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discount and profit need to be viewed together — sales volume alone hides losing sub-categories.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slicers and buttons (Region, State) to make a dashboard genuinely interactive rather than static.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writing each page as a question (e.g. "Which region generates the most profit?") to keep the design focused.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Struggled With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which visuals belonged on which page without overcrowding a single dashboard view.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discount-vs-profit scatter plot to read clearly, since most points cluster tightly near zero discount.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detail (full customer/product tables) against readability for a quick executive glance.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chart output into plain-English insights instead of just describing what each chart shows.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•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2026-07-16T00:38:24Z</dcterms:created>
  <dcterms:modified xsi:type="dcterms:W3CDTF">2026-07-16T00:38:24Z</dcterms:modified>
</cp:coreProperties>
</file>