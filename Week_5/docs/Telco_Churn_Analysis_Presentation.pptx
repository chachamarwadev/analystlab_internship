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1295C"/>
                </a:solidFill>
                <a:latin typeface="Arial"/>
              </a:defRPr>
            </a:pPr>
            <a:r>
              <a:rPr sz="1400" b="0" i="0" u="none" strike="noStrike">
                <a:solidFill>
                  <a:srgbClr val="21295C"/>
                </a:solidFill>
                <a:latin typeface="Arial"/>
              </a:rPr>
              <a:t>Churn Rate by Contract Type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 Rate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Month-to-month</c:v>
                  </c:pt>
                  <c:pt idx="1">
                    <c:v>One year</c:v>
                  </c:pt>
                  <c:pt idx="2">
                    <c:v>Two year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0.43</c:v>
                </c:pt>
                <c:pt idx="1">
                  <c:v>0.11</c:v>
                </c:pt>
                <c:pt idx="2">
                  <c:v>0.03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C2C2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C2C2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1295C"/>
                </a:solidFill>
                <a:latin typeface="Arial"/>
              </a:defRPr>
            </a:pPr>
            <a:r>
              <a:rPr sz="1300" b="0" i="0" u="none" strike="noStrike">
                <a:solidFill>
                  <a:srgbClr val="21295C"/>
                </a:solidFill>
                <a:latin typeface="Arial"/>
              </a:rPr>
              <a:t>Churn Rate by Internet Service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 Rate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Fiber optic</c:v>
                  </c:pt>
                  <c:pt idx="1">
                    <c:v>DSL</c:v>
                  </c:pt>
                  <c:pt idx="2">
                    <c:v>No internet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0.42</c:v>
                </c:pt>
                <c:pt idx="1">
                  <c:v>0.19</c:v>
                </c:pt>
                <c:pt idx="2">
                  <c:v>0.07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1295C"/>
                </a:solidFill>
                <a:latin typeface="Arial"/>
              </a:defRPr>
            </a:pPr>
            <a:r>
              <a:rPr sz="1300" b="0" i="0" u="none" strike="noStrike">
                <a:solidFill>
                  <a:srgbClr val="21295C"/>
                </a:solidFill>
                <a:latin typeface="Arial"/>
              </a:rPr>
              <a:t>Churn Rate by Payment Method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 Rate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Electronic check</c:v>
                  </c:pt>
                  <c:pt idx="1">
                    <c:v>Mailed check</c:v>
                  </c:pt>
                  <c:pt idx="2">
                    <c:v>Bank transfer</c:v>
                  </c:pt>
                  <c:pt idx="3">
                    <c:v>Credit card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0.45</c:v>
                </c:pt>
                <c:pt idx="1">
                  <c:v>0.19</c:v>
                </c:pt>
                <c:pt idx="2">
                  <c:v>0.16</c:v>
                </c:pt>
                <c:pt idx="3">
                  <c:v>0.15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1295C"/>
                </a:solidFill>
                <a:latin typeface="Arial"/>
              </a:defRPr>
            </a:pPr>
            <a:r>
              <a:rPr sz="1400" b="0" i="0" u="none" strike="noStrike">
                <a:solidFill>
                  <a:srgbClr val="21295C"/>
                </a:solidFill>
                <a:latin typeface="Arial"/>
              </a:rPr>
              <a:t>Churn Rate by Tenure Bucket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 Rate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0-12 mo</c:v>
                  </c:pt>
                  <c:pt idx="1">
                    <c:v>13-24 mo</c:v>
                  </c:pt>
                  <c:pt idx="2">
                    <c:v>25-48 mo</c:v>
                  </c:pt>
                  <c:pt idx="3">
                    <c:v>49-60 mo</c:v>
                  </c:pt>
                  <c:pt idx="4">
                    <c:v>61+ mo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0.48</c:v>
                </c:pt>
                <c:pt idx="1">
                  <c:v>0.29</c:v>
                </c:pt>
                <c:pt idx="2">
                  <c:v>0.2</c:v>
                </c:pt>
                <c:pt idx="3">
                  <c:v>0.09</c:v>
                </c:pt>
                <c:pt idx="4">
                  <c:v>0.03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Telco Customer Churn Analysis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333756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who leaves, when, and why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Emmanuel Chacha Marwa   |   AnalystLab Africa   |   July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66751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telco is losing customers to churn. We need to know which customer segments, contract terms, and services are most associated with churn — and what the business can do about it.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3749040"/>
            <a:ext cx="2148840" cy="1737360"/>
          </a:xfrm>
          <a:prstGeom prst="roundRect">
            <a:avLst>
              <a:gd name="adj" fmla="val 4211"/>
            </a:avLst>
          </a:prstGeom>
          <a:solidFill>
            <a:srgbClr val="F2F5F7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93192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7,043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466344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customers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880360" y="3749040"/>
            <a:ext cx="2148840" cy="1737360"/>
          </a:xfrm>
          <a:prstGeom prst="roundRect">
            <a:avLst>
              <a:gd name="adj" fmla="val 4211"/>
            </a:avLst>
          </a:prstGeom>
          <a:solidFill>
            <a:srgbClr val="F2F5F7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80360" y="393192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27%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880360" y="466344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churn rate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212080" y="3749040"/>
            <a:ext cx="2148840" cy="1737360"/>
          </a:xfrm>
          <a:prstGeom prst="roundRect">
            <a:avLst>
              <a:gd name="adj" fmla="val 4211"/>
            </a:avLst>
          </a:prstGeom>
          <a:solidFill>
            <a:srgbClr val="F2F5F7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12080" y="393192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$16.06M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212080" y="466344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589520" y="1280160"/>
            <a:ext cx="3840480" cy="4206240"/>
          </a:xfrm>
          <a:prstGeom prst="roundRect">
            <a:avLst>
              <a:gd name="adj" fmla="val 2381"/>
            </a:avLst>
          </a:prstGeom>
          <a:solidFill>
            <a:srgbClr val="21295C"/>
          </a:solidFill>
          <a:ln/>
        </p:spPr>
      </p:sp>
      <p:sp>
        <p:nvSpPr>
          <p:cNvPr id="14" name="Text 12"/>
          <p:cNvSpPr/>
          <p:nvPr/>
        </p:nvSpPr>
        <p:spPr>
          <a:xfrm>
            <a:off x="7589520" y="192024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1,869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7589520" y="288036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churned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(26.5% of base)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863840" y="4023360"/>
            <a:ext cx="3291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F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tenure: 32.4 months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9F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monthly charge: $64.76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Dataset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7,043 customer records  •  21 columns  •  no missing values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303520" cy="1554480"/>
          </a:xfrm>
          <a:prstGeom prst="roundRect">
            <a:avLst>
              <a:gd name="adj" fmla="val 4706"/>
            </a:avLst>
          </a:prstGeom>
          <a:solidFill>
            <a:srgbClr val="F2F5F7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084832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56032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gender, SeniorCitizen, Partner, Dependents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17920" y="1920240"/>
            <a:ext cx="5303520" cy="1554480"/>
          </a:xfrm>
          <a:prstGeom prst="roundRect">
            <a:avLst>
              <a:gd name="adj" fmla="val 4706"/>
            </a:avLst>
          </a:prstGeom>
          <a:solidFill>
            <a:srgbClr val="F2F5F7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0" y="2084832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92240" y="256032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tenure, Contract, PaperlessBilling, PaymentMethod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749040"/>
            <a:ext cx="5303520" cy="1554480"/>
          </a:xfrm>
          <a:prstGeom prst="roundRect">
            <a:avLst>
              <a:gd name="adj" fmla="val 4706"/>
            </a:avLst>
          </a:prstGeom>
          <a:solidFill>
            <a:srgbClr val="F2F5F7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913632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2960" y="438912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Phone, Internet, OnlineSecurity, TechSupport, Streaming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17920" y="3749040"/>
            <a:ext cx="5303520" cy="1554480"/>
          </a:xfrm>
          <a:prstGeom prst="roundRect">
            <a:avLst>
              <a:gd name="adj" fmla="val 4706"/>
            </a:avLst>
          </a:prstGeom>
          <a:solidFill>
            <a:srgbClr val="F2F5F7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3913632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92240" y="438912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MonthlyCharges, TotalCharges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Contract Length Is the Biggest Driver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71600"/>
          <a:ext cx="60350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6858000" y="1554480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43%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6858000" y="228600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month-to-month customers churn — over 14x the rate of two-year customers.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858000" y="393192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single largest churn lever available to the business.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Services &amp; Payment Patterns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371600"/>
          <a:ext cx="539496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Chart 1" descr=""/>
          <p:cNvGraphicFramePr/>
          <p:nvPr/>
        </p:nvGraphicFramePr>
        <p:xfrm>
          <a:off x="6309360" y="1371600"/>
          <a:ext cx="539496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Shape 1"/>
          <p:cNvSpPr/>
          <p:nvPr/>
        </p:nvSpPr>
        <p:spPr>
          <a:xfrm>
            <a:off x="457200" y="4434840"/>
            <a:ext cx="11247120" cy="1737360"/>
          </a:xfrm>
          <a:prstGeom prst="roundRect">
            <a:avLst>
              <a:gd name="adj" fmla="val 4211"/>
            </a:avLst>
          </a:prstGeom>
          <a:solidFill>
            <a:srgbClr val="F2F5F7"/>
          </a:solidFill>
          <a:ln/>
        </p:spPr>
      </p:sp>
      <p:sp>
        <p:nvSpPr>
          <p:cNvPr id="6" name="Text 2"/>
          <p:cNvSpPr/>
          <p:nvPr/>
        </p:nvSpPr>
        <p:spPr>
          <a:xfrm>
            <a:off x="777240" y="4617720"/>
            <a:ext cx="106070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without OnlineSecurity or TechSupport churn substantially more than those with these add-ons. </a:t>
            </a:r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 check payers and fiber optic subscribers are consistently the highest-risk groups across the dataset.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Is Concentrated Early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371600"/>
          <a:ext cx="667512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7498080" y="164592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$2.86M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7498080" y="2377440"/>
            <a:ext cx="4114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revenue tied to already-churned customers — about 18% of total revenue.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498080" y="3840480"/>
            <a:ext cx="4114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in their first year churn nearly 5x more often than those past year 5. The first 12 months are the highest-risk window for retention.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17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234440" y="1371600"/>
            <a:ext cx="103327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4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length is the biggest lever — converting even a fraction of month-to-month customers to longer terms would materially cut churn.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651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34440" y="2606040"/>
            <a:ext cx="103327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4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12 months are make-or-break — most churn happens early, so onboarding matters more than long-term loyalty perks.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8862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886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34440" y="3840480"/>
            <a:ext cx="103327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4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Fiber optic churning more than DSL, despite being the premium product, points to a service or pricing mismatch specific to fiber.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51206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5120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34440" y="5074920"/>
            <a:ext cx="103327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4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support add-ons increase stickiness — bundling them may reduce churn across the board.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2E8B5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51560" y="1298448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Incentivize month-to-month customers to switch to 1- or 2-year contracts.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084832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2E8B57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08483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51560" y="201168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structured onboarding program for the first 12 months of tenure.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798064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2E8B57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79806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51560" y="2724912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fiber optic pricing and service quality specifically.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3511296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2E8B57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51129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51560" y="3438144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 OnlineSecurity and TechSupport into base packages.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4224528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2E8B57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422452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51560" y="4151376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Encourage a switch away from electronic check to automatic payment methods.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544068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2F5F7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55778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is concentrated, not random — addressing contract terms and early-tenure engagement offers the clearest path to reducing the 27% churn rate.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2026-07-17T08:27:18Z</dcterms:created>
  <dcterms:modified xsi:type="dcterms:W3CDTF">2026-07-17T08:27:18Z</dcterms:modified>
</cp:coreProperties>
</file>